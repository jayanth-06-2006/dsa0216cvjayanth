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2" r:id="rId2"/>
    <p:sldId id="341" r:id="rId3"/>
    <p:sldId id="305" r:id="rId4"/>
    <p:sldId id="338" r:id="rId5"/>
    <p:sldId id="335" r:id="rId6"/>
    <p:sldId id="288" r:id="rId7"/>
    <p:sldId id="290" r:id="rId8"/>
    <p:sldId id="339" r:id="rId9"/>
    <p:sldId id="340" r:id="rId10"/>
    <p:sldId id="336" r:id="rId11"/>
    <p:sldId id="337" r:id="rId12"/>
    <p:sldId id="32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9F44BA-1079-4B31-9268-1C2424652A0B}" v="1" dt="2026-02-12T08:00:08.1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nthreddy0606@outlook.com" userId="2e917bb573b89ce1" providerId="LiveId" clId="{16E6C297-2C2D-459C-B401-627140679164}"/>
    <pc:docChg chg="undo custSel modSld">
      <pc:chgData name="jayanthreddy0606@outlook.com" userId="2e917bb573b89ce1" providerId="LiveId" clId="{16E6C297-2C2D-459C-B401-627140679164}" dt="2026-02-12T08:04:02.856" v="32" actId="113"/>
      <pc:docMkLst>
        <pc:docMk/>
      </pc:docMkLst>
      <pc:sldChg chg="addSp delSp modSp mod">
        <pc:chgData name="jayanthreddy0606@outlook.com" userId="2e917bb573b89ce1" providerId="LiveId" clId="{16E6C297-2C2D-459C-B401-627140679164}" dt="2026-02-12T08:04:02.856" v="32" actId="113"/>
        <pc:sldMkLst>
          <pc:docMk/>
          <pc:sldMk cId="4139998717" sldId="341"/>
        </pc:sldMkLst>
        <pc:spChg chg="add del mod">
          <ac:chgData name="jayanthreddy0606@outlook.com" userId="2e917bb573b89ce1" providerId="LiveId" clId="{16E6C297-2C2D-459C-B401-627140679164}" dt="2026-02-12T08:04:02.856" v="32" actId="113"/>
          <ac:spMkLst>
            <pc:docMk/>
            <pc:sldMk cId="4139998717" sldId="341"/>
            <ac:spMk id="4" creationId="{0403A1C9-AC90-C143-B25B-F59F17879572}"/>
          </ac:spMkLst>
        </pc:spChg>
        <pc:spChg chg="add mod">
          <ac:chgData name="jayanthreddy0606@outlook.com" userId="2e917bb573b89ce1" providerId="LiveId" clId="{16E6C297-2C2D-459C-B401-627140679164}" dt="2026-02-12T08:03:36.291" v="31" actId="2710"/>
          <ac:spMkLst>
            <pc:docMk/>
            <pc:sldMk cId="4139998717" sldId="341"/>
            <ac:spMk id="6" creationId="{1ACE2DDF-3C00-1510-BBF3-A60BCBF316EE}"/>
          </ac:spMkLst>
        </pc:spChg>
        <pc:picChg chg="add mod">
          <ac:chgData name="jayanthreddy0606@outlook.com" userId="2e917bb573b89ce1" providerId="LiveId" clId="{16E6C297-2C2D-459C-B401-627140679164}" dt="2026-02-12T08:00:08.169" v="0"/>
          <ac:picMkLst>
            <pc:docMk/>
            <pc:sldMk cId="4139998717" sldId="341"/>
            <ac:picMk id="3" creationId="{C5DE5A0B-476D-8BA4-3942-774F7813FC0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0D50B-76D3-4FD8-AABC-626A40B53236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081898"/>
              </p:ext>
            </p:extLst>
          </p:nvPr>
        </p:nvGraphicFramePr>
        <p:xfrm>
          <a:off x="1022555" y="4493687"/>
          <a:ext cx="3195484" cy="19649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5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7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GUIDE:</a:t>
                      </a: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96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DR. S . Senthil </a:t>
                      </a:r>
                      <a:r>
                        <a:rPr lang="en-US" sz="2000" dirty="0" err="1">
                          <a:latin typeface="Times New Roman" pitchFamily="18" charset="0"/>
                          <a:cs typeface="Times New Roman" pitchFamily="18" charset="0"/>
                        </a:rPr>
                        <a:t>vadivu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DR. T . Kumaragurubaran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07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PROFESSOR.</a:t>
                      </a: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236303"/>
              </p:ext>
            </p:extLst>
          </p:nvPr>
        </p:nvGraphicFramePr>
        <p:xfrm>
          <a:off x="8232876" y="4001483"/>
          <a:ext cx="3959124" cy="1985437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3959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517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19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Times New Roman" pitchFamily="18" charset="0"/>
                          <a:cs typeface="Times New Roman" pitchFamily="18" charset="0"/>
                        </a:rPr>
                        <a:t>PRESENTED BY:</a:t>
                      </a: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1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 S. Manigandan(192424057)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29551667"/>
                  </a:ext>
                </a:extLst>
              </a:tr>
              <a:tr h="49719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 R. Jayanth (192424286)</a:t>
                      </a: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itle 1"/>
          <p:cNvSpPr txBox="1">
            <a:spLocks/>
          </p:cNvSpPr>
          <p:nvPr/>
        </p:nvSpPr>
        <p:spPr>
          <a:xfrm>
            <a:off x="1591698" y="1904018"/>
            <a:ext cx="9245600" cy="129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591698" y="2246918"/>
            <a:ext cx="9245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4975" y="2082205"/>
            <a:ext cx="902643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Fruit Ripeness Detection and Quality Grading Using Image Analysis</a:t>
            </a:r>
          </a:p>
          <a:p>
            <a:pPr lvl="0" algn="ctr"/>
            <a:endParaRPr lang="en-IN" sz="2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DSA0216-Computer Vision With Open CV For Modern AI</a:t>
            </a:r>
            <a:endParaRPr lang="en-IN" sz="16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76" y="90507"/>
            <a:ext cx="11719034" cy="16720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123878948;p1">
            <a:extLst>
              <a:ext uri="{FF2B5EF4-FFF2-40B4-BE49-F238E27FC236}">
                <a16:creationId xmlns:a16="http://schemas.microsoft.com/office/drawing/2014/main" id="{FB826DE6-08FD-0F39-3665-FD30C3D27D6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123878949;p1">
            <a:extLst>
              <a:ext uri="{FF2B5EF4-FFF2-40B4-BE49-F238E27FC236}">
                <a16:creationId xmlns:a16="http://schemas.microsoft.com/office/drawing/2014/main" id="{C5DE5A0B-476D-8BA4-3942-774F7813FC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03A1C9-AC90-C143-B25B-F59F17879572}"/>
              </a:ext>
            </a:extLst>
          </p:cNvPr>
          <p:cNvSpPr/>
          <p:nvPr/>
        </p:nvSpPr>
        <p:spPr>
          <a:xfrm>
            <a:off x="3028335" y="191626"/>
            <a:ext cx="6774426" cy="12635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CE2DDF-3C00-1510-BBF3-A60BCBF316EE}"/>
              </a:ext>
            </a:extLst>
          </p:cNvPr>
          <p:cNvSpPr txBox="1"/>
          <p:nvPr/>
        </p:nvSpPr>
        <p:spPr>
          <a:xfrm>
            <a:off x="1492469" y="1455174"/>
            <a:ext cx="10021105" cy="4807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3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computer vision techniques to automatically detect fruit ripeness and assess quality from captured images.</a:t>
            </a:r>
          </a:p>
          <a:p>
            <a:pPr algn="just">
              <a:lnSpc>
                <a:spcPct val="150000"/>
              </a:lnSpc>
              <a:spcAft>
                <a:spcPts val="3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Images are preprocessed and converted into HSV color space for accurate color-based segmentation and feature extraction.</a:t>
            </a:r>
          </a:p>
          <a:p>
            <a:pPr algn="just">
              <a:lnSpc>
                <a:spcPct val="150000"/>
              </a:lnSpc>
              <a:spcAft>
                <a:spcPts val="3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such as color, texture, and shape are analyzed to classify fruits into unripe, ripe, and overripe stages.</a:t>
            </a:r>
          </a:p>
          <a:p>
            <a:pPr algn="just">
              <a:lnSpc>
                <a:spcPct val="150000"/>
              </a:lnSpc>
              <a:spcAft>
                <a:spcPts val="3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grading algorithm categorizes fruits into quality levels (Grade A, B, C) based on size and surface defects.</a:t>
            </a:r>
          </a:p>
          <a:p>
            <a:pPr algn="just">
              <a:lnSpc>
                <a:spcPct val="150000"/>
              </a:lnSpc>
              <a:spcAft>
                <a:spcPts val="3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automated approach reduces manual effort, increases speed, and ensures consistent and reliable sorting for agricultural and industrial applications.</a:t>
            </a:r>
          </a:p>
        </p:txBody>
      </p:sp>
    </p:spTree>
    <p:extLst>
      <p:ext uri="{BB962C8B-B14F-4D97-AF65-F5344CB8AC3E}">
        <p14:creationId xmlns:p14="http://schemas.microsoft.com/office/powerpoint/2010/main" val="4139998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0525" y="705626"/>
            <a:ext cx="9683553" cy="979714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2123878948;p1">
            <a:extLst>
              <a:ext uri="{FF2B5EF4-FFF2-40B4-BE49-F238E27FC236}">
                <a16:creationId xmlns:a16="http://schemas.microsoft.com/office/drawing/2014/main" id="{AC59E64E-192D-46CA-ECC3-D19266DB90A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3878949;p1">
            <a:extLst>
              <a:ext uri="{FF2B5EF4-FFF2-40B4-BE49-F238E27FC236}">
                <a16:creationId xmlns:a16="http://schemas.microsoft.com/office/drawing/2014/main" id="{7D1954A0-E5FE-5F0A-3041-F35A6394DB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B92E0D1-A1E6-C5B1-38D9-46FFE40155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4232" y="1772949"/>
            <a:ext cx="6099857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fruit grading ensures consistent quality and reduces dependency on subjective manual inspection.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analysis enables fast, accurate, and non-destructive evaluation of fruit ripeness levels.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Color, texture, and shape features extracted from images act as strong indicators of ripeness and external quality.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methods improve decision-making by learning patterns from labeled fruit datasets.</a:t>
            </a:r>
          </a:p>
        </p:txBody>
      </p:sp>
      <p:pic>
        <p:nvPicPr>
          <p:cNvPr id="7" name="Picture 6" descr="A fruit in a factory&#10;&#10;AI-generated content may be incorrect.">
            <a:extLst>
              <a:ext uri="{FF2B5EF4-FFF2-40B4-BE49-F238E27FC236}">
                <a16:creationId xmlns:a16="http://schemas.microsoft.com/office/drawing/2014/main" id="{6A035FAE-85BA-4DF6-4776-280CB5ED11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089" y="1933974"/>
            <a:ext cx="4626549" cy="41919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ADBAC-1684-C61B-FE5F-95431D754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5D516E-1918-19DC-1BA4-13C056172E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6533" y="1864187"/>
            <a:ext cx="9798934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an automated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detect the ripeness level of fruits using image analysis techniques.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Classify fruits into different quality grades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 color, texture, and size features extracted from images.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human error and labor costs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fruit sorting and quality assessment processes.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real-time detection and grading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facilitate faster processing in agricultural and supply chain systems.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post-harvest management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providing accurate and consistent ripeness and quality information for fruits.</a:t>
            </a:r>
          </a:p>
        </p:txBody>
      </p:sp>
      <p:pic>
        <p:nvPicPr>
          <p:cNvPr id="5" name="Google Shape;2123878948;p1">
            <a:extLst>
              <a:ext uri="{FF2B5EF4-FFF2-40B4-BE49-F238E27FC236}">
                <a16:creationId xmlns:a16="http://schemas.microsoft.com/office/drawing/2014/main" id="{27FCF5A6-4DDA-4998-8C1F-9772E681089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123878949;p1">
            <a:extLst>
              <a:ext uri="{FF2B5EF4-FFF2-40B4-BE49-F238E27FC236}">
                <a16:creationId xmlns:a16="http://schemas.microsoft.com/office/drawing/2014/main" id="{6B0B895A-92A2-425A-3A59-5B9CB876B2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0234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2C060-C780-49AF-D850-BA1C84874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                   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AA95D-9E0F-A52C-9931-2E912B045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255" y="1864187"/>
            <a:ext cx="6385242" cy="462868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fruit images under controlled lighting to reduce shadows and reflections.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images using resizing, filtering, and background removal for clean input data.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essential color, shape, and texture features (HSV, GLCM, contour features).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system performance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accuracy, confusion matrix, and feature visualization.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2123878948;p1">
            <a:extLst>
              <a:ext uri="{FF2B5EF4-FFF2-40B4-BE49-F238E27FC236}">
                <a16:creationId xmlns:a16="http://schemas.microsoft.com/office/drawing/2014/main" id="{BB96AF3C-D607-1AB5-2696-3DB9EECA659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3878949;p1">
            <a:extLst>
              <a:ext uri="{FF2B5EF4-FFF2-40B4-BE49-F238E27FC236}">
                <a16:creationId xmlns:a16="http://schemas.microsoft.com/office/drawing/2014/main" id="{42DEF4A8-DBFC-9522-A762-79C12E2FF9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AutoShape 2" descr="https://chatgpt.com/backend-api/estuary/content?id=file_00000000bd3c7207a50a84b1840bd96e&amp;ts=490135&amp;p=fs&amp;cid=1&amp;sig=5d417eaa75ca8a201fe0cfe8acfd08b08ef6075be4bc8500d7876cb3620f5da3&amp;v=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0F3F59-E2D0-EF7F-7AC0-659780998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497" y="1721976"/>
            <a:ext cx="4384847" cy="477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043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335" y="464518"/>
            <a:ext cx="9676031" cy="106999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1-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Fruit Image Preprocessing and Region Segmentation</a:t>
            </a:r>
            <a:br>
              <a:rPr lang="en-IN" b="1" dirty="0"/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2123878948;p1">
            <a:extLst>
              <a:ext uri="{FF2B5EF4-FFF2-40B4-BE49-F238E27FC236}">
                <a16:creationId xmlns:a16="http://schemas.microsoft.com/office/drawing/2014/main" id="{C87712E9-0347-BFF5-158C-B49D168455E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3878949;p1">
            <a:extLst>
              <a:ext uri="{FF2B5EF4-FFF2-40B4-BE49-F238E27FC236}">
                <a16:creationId xmlns:a16="http://schemas.microsoft.com/office/drawing/2014/main" id="{B5EDCD78-5FCE-4C05-9AD0-5DC5CE0825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E9B3B47B-FB93-7B3A-A198-89D83AC1CA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9276" y="1534509"/>
            <a:ext cx="5666659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HSV color masking to isolate fruit pixels from the background.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GrabCut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segmentation for refined foreground extraction.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morphological smoothing (erosion, dilation, closing) to remove noise.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dominant fruit contour using contour detection methods.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 segmentation 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histogram accuracy, region purity, and shape consistency.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77C882-B1A4-6291-A35C-3F0682B9BD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59"/>
          <a:stretch>
            <a:fillRect/>
          </a:stretch>
        </p:blipFill>
        <p:spPr>
          <a:xfrm>
            <a:off x="6868653" y="1807401"/>
            <a:ext cx="5165692" cy="43807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795866"/>
            <a:ext cx="10515600" cy="99422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MODULE 2 - </a:t>
            </a:r>
            <a:r>
              <a:rPr lang="en-IN" b="1" dirty="0"/>
              <a:t> 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Ripeness Detection and Quality Classification</a:t>
            </a:r>
            <a:br>
              <a:rPr lang="en-IN" sz="4000" b="1" dirty="0"/>
            </a:b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2123878948;p1">
            <a:extLst>
              <a:ext uri="{FF2B5EF4-FFF2-40B4-BE49-F238E27FC236}">
                <a16:creationId xmlns:a16="http://schemas.microsoft.com/office/drawing/2014/main" id="{7858684C-C000-4C24-3076-CC87654582D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123878949;p1">
            <a:extLst>
              <a:ext uri="{FF2B5EF4-FFF2-40B4-BE49-F238E27FC236}">
                <a16:creationId xmlns:a16="http://schemas.microsoft.com/office/drawing/2014/main" id="{4457FE66-6F5D-EDE7-EA52-DE676C8E35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AutoShape 2" descr="Gener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6E17C96-079C-AAFC-42EB-1D71591206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4910" y="1534509"/>
            <a:ext cx="6107573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HSV color intensity features to identify ripeness changes.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 texture features (entropy, contrast, GLCM metrics) for defect evaluation.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KNN/SVM classifiers for multi-stage ripeness and quality grading.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threshold-based rules for simple color/defect-based classification.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Assess classification using accuracy, confusion matrix, and feature visualization.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0A33A4-9896-CAD1-3FA7-B5053F3800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27"/>
          <a:stretch>
            <a:fillRect/>
          </a:stretch>
        </p:blipFill>
        <p:spPr>
          <a:xfrm>
            <a:off x="7032483" y="1790095"/>
            <a:ext cx="4910251" cy="4398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CAC49-6659-EFF2-E3B2-7F0CAE573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12459A-E6F1-2B6D-E9A6-6B83C5A7F2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44946"/>
              </p:ext>
            </p:extLst>
          </p:nvPr>
        </p:nvGraphicFramePr>
        <p:xfrm>
          <a:off x="879676" y="1692239"/>
          <a:ext cx="10741309" cy="4351338"/>
        </p:xfrm>
        <a:graphic>
          <a:graphicData uri="http://schemas.openxmlformats.org/drawingml/2006/table">
            <a:tbl>
              <a:tblPr/>
              <a:tblGrid>
                <a:gridCol w="1755654">
                  <a:extLst>
                    <a:ext uri="{9D8B030D-6E8A-4147-A177-3AD203B41FA5}">
                      <a16:colId xmlns:a16="http://schemas.microsoft.com/office/drawing/2014/main" val="1514366298"/>
                    </a:ext>
                  </a:extLst>
                </a:gridCol>
                <a:gridCol w="1797131">
                  <a:extLst>
                    <a:ext uri="{9D8B030D-6E8A-4147-A177-3AD203B41FA5}">
                      <a16:colId xmlns:a16="http://schemas.microsoft.com/office/drawing/2014/main" val="930896064"/>
                    </a:ext>
                  </a:extLst>
                </a:gridCol>
                <a:gridCol w="1797131">
                  <a:extLst>
                    <a:ext uri="{9D8B030D-6E8A-4147-A177-3AD203B41FA5}">
                      <a16:colId xmlns:a16="http://schemas.microsoft.com/office/drawing/2014/main" val="4094954316"/>
                    </a:ext>
                  </a:extLst>
                </a:gridCol>
                <a:gridCol w="1797131">
                  <a:extLst>
                    <a:ext uri="{9D8B030D-6E8A-4147-A177-3AD203B41FA5}">
                      <a16:colId xmlns:a16="http://schemas.microsoft.com/office/drawing/2014/main" val="2146055427"/>
                    </a:ext>
                  </a:extLst>
                </a:gridCol>
                <a:gridCol w="1797131">
                  <a:extLst>
                    <a:ext uri="{9D8B030D-6E8A-4147-A177-3AD203B41FA5}">
                      <a16:colId xmlns:a16="http://schemas.microsoft.com/office/drawing/2014/main" val="1184141752"/>
                    </a:ext>
                  </a:extLst>
                </a:gridCol>
                <a:gridCol w="1797131">
                  <a:extLst>
                    <a:ext uri="{9D8B030D-6E8A-4147-A177-3AD203B41FA5}">
                      <a16:colId xmlns:a16="http://schemas.microsoft.com/office/drawing/2014/main" val="431181911"/>
                    </a:ext>
                  </a:extLst>
                </a:gridCol>
              </a:tblGrid>
              <a:tr h="49128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92709"/>
                  </a:ext>
                </a:extLst>
              </a:tr>
              <a:tr h="7018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207502"/>
                  </a:ext>
                </a:extLst>
              </a:tr>
              <a:tr h="91237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016091"/>
                  </a:ext>
                </a:extLst>
              </a:tr>
              <a:tr h="112292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609728"/>
                  </a:ext>
                </a:extLst>
              </a:tr>
              <a:tr h="112292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68503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F1C15C-B18D-28DD-4864-E3A375109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455727"/>
              </p:ext>
            </p:extLst>
          </p:nvPr>
        </p:nvGraphicFramePr>
        <p:xfrm>
          <a:off x="936644" y="1434391"/>
          <a:ext cx="9645570" cy="4351338"/>
        </p:xfrm>
        <a:graphic>
          <a:graphicData uri="http://schemas.openxmlformats.org/drawingml/2006/table">
            <a:tbl>
              <a:tblPr/>
              <a:tblGrid>
                <a:gridCol w="1607595">
                  <a:extLst>
                    <a:ext uri="{9D8B030D-6E8A-4147-A177-3AD203B41FA5}">
                      <a16:colId xmlns:a16="http://schemas.microsoft.com/office/drawing/2014/main" val="1828062589"/>
                    </a:ext>
                  </a:extLst>
                </a:gridCol>
                <a:gridCol w="1607595">
                  <a:extLst>
                    <a:ext uri="{9D8B030D-6E8A-4147-A177-3AD203B41FA5}">
                      <a16:colId xmlns:a16="http://schemas.microsoft.com/office/drawing/2014/main" val="405445154"/>
                    </a:ext>
                  </a:extLst>
                </a:gridCol>
                <a:gridCol w="1607595">
                  <a:extLst>
                    <a:ext uri="{9D8B030D-6E8A-4147-A177-3AD203B41FA5}">
                      <a16:colId xmlns:a16="http://schemas.microsoft.com/office/drawing/2014/main" val="4088579110"/>
                    </a:ext>
                  </a:extLst>
                </a:gridCol>
                <a:gridCol w="1607595">
                  <a:extLst>
                    <a:ext uri="{9D8B030D-6E8A-4147-A177-3AD203B41FA5}">
                      <a16:colId xmlns:a16="http://schemas.microsoft.com/office/drawing/2014/main" val="295616941"/>
                    </a:ext>
                  </a:extLst>
                </a:gridCol>
                <a:gridCol w="1607595">
                  <a:extLst>
                    <a:ext uri="{9D8B030D-6E8A-4147-A177-3AD203B41FA5}">
                      <a16:colId xmlns:a16="http://schemas.microsoft.com/office/drawing/2014/main" val="298923372"/>
                    </a:ext>
                  </a:extLst>
                </a:gridCol>
                <a:gridCol w="1607595">
                  <a:extLst>
                    <a:ext uri="{9D8B030D-6E8A-4147-A177-3AD203B41FA5}">
                      <a16:colId xmlns:a16="http://schemas.microsoft.com/office/drawing/2014/main" val="1913486295"/>
                    </a:ext>
                  </a:extLst>
                </a:gridCol>
              </a:tblGrid>
              <a:tr h="49128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141774"/>
                  </a:ext>
                </a:extLst>
              </a:tr>
              <a:tr h="70182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330007"/>
                  </a:ext>
                </a:extLst>
              </a:tr>
              <a:tr h="91237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94330"/>
                  </a:ext>
                </a:extLst>
              </a:tr>
              <a:tr h="112292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88128"/>
                  </a:ext>
                </a:extLst>
              </a:tr>
              <a:tr h="112292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09939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122A9F8-0F0F-401E-1911-4DA396E43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491975"/>
              </p:ext>
            </p:extLst>
          </p:nvPr>
        </p:nvGraphicFramePr>
        <p:xfrm>
          <a:off x="838195" y="2200312"/>
          <a:ext cx="10515600" cy="4657688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12673768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4007350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64333933"/>
                    </a:ext>
                  </a:extLst>
                </a:gridCol>
                <a:gridCol w="2260927">
                  <a:extLst>
                    <a:ext uri="{9D8B030D-6E8A-4147-A177-3AD203B41FA5}">
                      <a16:colId xmlns:a16="http://schemas.microsoft.com/office/drawing/2014/main" val="2023975089"/>
                    </a:ext>
                  </a:extLst>
                </a:gridCol>
                <a:gridCol w="1527858">
                  <a:extLst>
                    <a:ext uri="{9D8B030D-6E8A-4147-A177-3AD203B41FA5}">
                      <a16:colId xmlns:a16="http://schemas.microsoft.com/office/drawing/2014/main" val="33980264"/>
                    </a:ext>
                  </a:extLst>
                </a:gridCol>
                <a:gridCol w="1469015">
                  <a:extLst>
                    <a:ext uri="{9D8B030D-6E8A-4147-A177-3AD203B41FA5}">
                      <a16:colId xmlns:a16="http://schemas.microsoft.com/office/drawing/2014/main" val="2016281148"/>
                    </a:ext>
                  </a:extLst>
                </a:gridCol>
              </a:tblGrid>
              <a:tr h="52586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224861"/>
                  </a:ext>
                </a:extLst>
              </a:tr>
              <a:tr h="7512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108660"/>
                  </a:ext>
                </a:extLst>
              </a:tr>
              <a:tr h="97661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959062"/>
                  </a:ext>
                </a:extLst>
              </a:tr>
              <a:tr h="120198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386050"/>
                  </a:ext>
                </a:extLst>
              </a:tr>
              <a:tr h="120198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76880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0035445-757E-9772-AFC5-92968E60F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482657"/>
              </p:ext>
            </p:extLst>
          </p:nvPr>
        </p:nvGraphicFramePr>
        <p:xfrm>
          <a:off x="844952" y="1690688"/>
          <a:ext cx="10607285" cy="4776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250">
                  <a:extLst>
                    <a:ext uri="{9D8B030D-6E8A-4147-A177-3AD203B41FA5}">
                      <a16:colId xmlns:a16="http://schemas.microsoft.com/office/drawing/2014/main" val="1348996732"/>
                    </a:ext>
                  </a:extLst>
                </a:gridCol>
                <a:gridCol w="1769007">
                  <a:extLst>
                    <a:ext uri="{9D8B030D-6E8A-4147-A177-3AD203B41FA5}">
                      <a16:colId xmlns:a16="http://schemas.microsoft.com/office/drawing/2014/main" val="1549343038"/>
                    </a:ext>
                  </a:extLst>
                </a:gridCol>
                <a:gridCol w="1769007">
                  <a:extLst>
                    <a:ext uri="{9D8B030D-6E8A-4147-A177-3AD203B41FA5}">
                      <a16:colId xmlns:a16="http://schemas.microsoft.com/office/drawing/2014/main" val="87361170"/>
                    </a:ext>
                  </a:extLst>
                </a:gridCol>
                <a:gridCol w="1769007">
                  <a:extLst>
                    <a:ext uri="{9D8B030D-6E8A-4147-A177-3AD203B41FA5}">
                      <a16:colId xmlns:a16="http://schemas.microsoft.com/office/drawing/2014/main" val="206513624"/>
                    </a:ext>
                  </a:extLst>
                </a:gridCol>
                <a:gridCol w="1769007">
                  <a:extLst>
                    <a:ext uri="{9D8B030D-6E8A-4147-A177-3AD203B41FA5}">
                      <a16:colId xmlns:a16="http://schemas.microsoft.com/office/drawing/2014/main" val="122603616"/>
                    </a:ext>
                  </a:extLst>
                </a:gridCol>
                <a:gridCol w="1769007">
                  <a:extLst>
                    <a:ext uri="{9D8B030D-6E8A-4147-A177-3AD203B41FA5}">
                      <a16:colId xmlns:a16="http://schemas.microsoft.com/office/drawing/2014/main" val="3790998422"/>
                    </a:ext>
                  </a:extLst>
                </a:gridCol>
              </a:tblGrid>
              <a:tr h="932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/ Year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Technique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 Type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Features Used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/ Outcome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24877560"/>
                  </a:ext>
                </a:extLst>
              </a:tr>
              <a:tr h="932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al., 2018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processing (RGB &amp; HSV analysis)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Color, Shape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~85%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 well under controlled lighting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945461975"/>
                  </a:ext>
                </a:extLst>
              </a:tr>
              <a:tr h="932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Rahman et al., 2020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Convolutional Neural Networks (CNN)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Banana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Texture, Shape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&gt;90%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feature extraction, high accuracy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053059852"/>
                  </a:ext>
                </a:extLst>
              </a:tr>
              <a:tr h="932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&amp; Sun, 2017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 (SVM)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Tomato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 Histogram, Shape, Texture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87%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manual feature extraction, good for small datasets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585113592"/>
                  </a:ext>
                </a:extLst>
              </a:tr>
              <a:tr h="932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Wu et al., 2021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Hyperspectral Imaging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Strawberry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Spectral Features (Sugar, Firmness)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95%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 accuracy, but requires expensive hardware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937381241"/>
                  </a:ext>
                </a:extLst>
              </a:tr>
            </a:tbl>
          </a:graphicData>
        </a:graphic>
      </p:graphicFrame>
      <p:pic>
        <p:nvPicPr>
          <p:cNvPr id="11" name="Google Shape;2123878948;p1">
            <a:extLst>
              <a:ext uri="{FF2B5EF4-FFF2-40B4-BE49-F238E27FC236}">
                <a16:creationId xmlns:a16="http://schemas.microsoft.com/office/drawing/2014/main" id="{1F4BCD74-9B66-CBDA-4C99-1A209C216DA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123878949;p1">
            <a:extLst>
              <a:ext uri="{FF2B5EF4-FFF2-40B4-BE49-F238E27FC236}">
                <a16:creationId xmlns:a16="http://schemas.microsoft.com/office/drawing/2014/main" id="{F188986B-704E-C46D-A698-F968CAB0DA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1288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A686-DC86-89F4-3320-73ECBA77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61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042F4C3-9F2C-FF49-85F8-33B94FC3A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88469" y="1713840"/>
            <a:ext cx="4445876" cy="3939709"/>
          </a:xfrm>
          <a:prstGeom prst="rect">
            <a:avLst/>
          </a:prstGeom>
        </p:spPr>
      </p:pic>
      <p:pic>
        <p:nvPicPr>
          <p:cNvPr id="4" name="Google Shape;2123878948;p1">
            <a:extLst>
              <a:ext uri="{FF2B5EF4-FFF2-40B4-BE49-F238E27FC236}">
                <a16:creationId xmlns:a16="http://schemas.microsoft.com/office/drawing/2014/main" id="{769B0C86-C6BC-6033-352F-8B8049436A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3878949;p1">
            <a:extLst>
              <a:ext uri="{FF2B5EF4-FFF2-40B4-BE49-F238E27FC236}">
                <a16:creationId xmlns:a16="http://schemas.microsoft.com/office/drawing/2014/main" id="{5D5F0510-B38E-6945-77E6-4978B0FD992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534731-B3BA-1FEC-BF10-D4106D555C85}"/>
              </a:ext>
            </a:extLst>
          </p:cNvPr>
          <p:cNvSpPr txBox="1"/>
          <p:nvPr/>
        </p:nvSpPr>
        <p:spPr>
          <a:xfrm>
            <a:off x="1278194" y="1455174"/>
            <a:ext cx="6310275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Ripeness Classification Accuracy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The system successfully identified unripe, ripe, and overripe fruit.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Effective Quality Grading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Fruits were automatically categorized into Grade A, B, and C based on size, shape, and surface defects.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Effort and Time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Automated image processing significantly decreased human intervention.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Robust Performance Under Different Conditions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The model maintained stable performance under varying lighting and background conditions, making it suitable for real-time industrial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942416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CB8E6-7966-4A25-44E7-1EC8C73F3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E4046-CD50-47A6-9B1A-CD723D9B2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698" y="1825625"/>
            <a:ext cx="9919505" cy="435133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accurately detects fruit ripeness and quality using image processing.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and texture features help classify fruits more reliably than manual inspection.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improves speed, consistency, and reduces human error.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flexible and can work with different fruit types.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supports smarter, technology-driven agricultural practices.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reduce post-harvest losses by identifying overripe or defective fruits early.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strong foundation for developing advanced smart-farming and automated grading systems.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2123878948;p1">
            <a:extLst>
              <a:ext uri="{FF2B5EF4-FFF2-40B4-BE49-F238E27FC236}">
                <a16:creationId xmlns:a16="http://schemas.microsoft.com/office/drawing/2014/main" id="{FBB47847-D6B1-09B6-6219-503BB116399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3878949;p1">
            <a:extLst>
              <a:ext uri="{FF2B5EF4-FFF2-40B4-BE49-F238E27FC236}">
                <a16:creationId xmlns:a16="http://schemas.microsoft.com/office/drawing/2014/main" id="{9A6C36DB-F07C-F77E-568B-22530669E9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9795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D354D-1676-7BB3-A3D8-636178624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4" name="Google Shape;2123878948;p1">
            <a:extLst>
              <a:ext uri="{FF2B5EF4-FFF2-40B4-BE49-F238E27FC236}">
                <a16:creationId xmlns:a16="http://schemas.microsoft.com/office/drawing/2014/main" id="{C2979904-69CC-C6A5-A933-5686B3BFF08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3878949;p1">
            <a:extLst>
              <a:ext uri="{FF2B5EF4-FFF2-40B4-BE49-F238E27FC236}">
                <a16:creationId xmlns:a16="http://schemas.microsoft.com/office/drawing/2014/main" id="{180186EA-27D4-CDAC-F8E2-1CAC2B6956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BF04E35-5D8A-9D5E-0298-22783480A9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674472"/>
            <a:ext cx="10996449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Morshed, M. S., Ahmed, S., Ahmed, T., Islam, M. U., &amp; Rahman, A. B. M. A. 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Fruit Quality Assessment with Densely Connected Convolutional Neural Network (Dense Net)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preprint, 2022.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Liu, Y., Li, M., &amp; Ma, Q. 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Efficient Apple Maturity and Damage Assessment: A Lightweight Detection Model with GAN and Attention Mechanism.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preprint, 2023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Oli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C. C., Trewhella, B., Li, B., Smith, M. L., Winstone, B., Whitfield, E. C., … Fernández, F. —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 for Hyperspectral Imaging-based Blackberry Fruit Ripeness Detection in Uncontrolled Farm Environment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preprint, 2024.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Luo, D., Luo, R., Cheng, J., &amp; Liu, X. 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Quality detection and grading of peach fruit based on image processing method and neural networks in agricultural industry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Frontiers in Plant Science, 2024. </a:t>
            </a:r>
          </a:p>
        </p:txBody>
      </p:sp>
    </p:spTree>
    <p:extLst>
      <p:ext uri="{BB962C8B-B14F-4D97-AF65-F5344CB8AC3E}">
        <p14:creationId xmlns:p14="http://schemas.microsoft.com/office/powerpoint/2010/main" val="228062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208" y="2766218"/>
            <a:ext cx="1026608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itchFamily="18" charset="0"/>
                <a:cs typeface="Times New Roman" pitchFamily="18" charset="0"/>
              </a:rPr>
              <a:t>            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2E6F09-316D-5552-CE5F-6B2B2C103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981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INTRODUCTION </vt:lpstr>
      <vt:lpstr>OBJECTIVES</vt:lpstr>
      <vt:lpstr>                    METHODOLOGY</vt:lpstr>
      <vt:lpstr>MODULE 1-Fruit Image Preprocessing and Region Segmentation </vt:lpstr>
      <vt:lpstr>   MODULE 2 -  Ripeness Detection and Quality Classification </vt:lpstr>
      <vt:lpstr>LITERATURE REVIEW</vt:lpstr>
      <vt:lpstr>RESULTS AND DISCUSSION</vt:lpstr>
      <vt:lpstr>CONCLUSION</vt:lpstr>
      <vt:lpstr>REFERENCES</vt:lpstr>
      <vt:lpstr>         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Information System for Small-Scale Farmers</dc:title>
  <dc:creator>admin</dc:creator>
  <cp:lastModifiedBy>jayanthreddy0606@outlook.com</cp:lastModifiedBy>
  <cp:revision>11</cp:revision>
  <dcterms:created xsi:type="dcterms:W3CDTF">2018-12-29T07:03:00Z</dcterms:created>
  <dcterms:modified xsi:type="dcterms:W3CDTF">2026-02-12T08:04:11Z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1033-11.2.0.9150</vt:lpwstr>
  </property>
</Properties>
</file>